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0"/>
            <a:ext cx="301752" cy="685800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4884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0916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37"/>
                </a:solidFill>
                <a:latin typeface="Calibri"/>
              </a:rPr>
              <a:t>КРАСНОЯРСКИЙ КРАЙ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В ГОДЫ ВЕЛИКОЙ
ОТЕЧЕСТВЕННОЙ ВОЙНЫ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4AF37"/>
                </a:solidFill>
                <a:latin typeface="Calibri"/>
              </a:rPr>
              <a:t>1941 — 1945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8D9B8"/>
                </a:solidFill>
                <a:latin typeface="Calibri"/>
              </a:rPr>
              <a:t>Вклад Сибири в победу над фашистской Германией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  <a:latin typeface="Calibri"/>
              </a:rPr>
              <a:t>«Всё для фронта, всё для победы!»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Красноярский край в 1941 году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73152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0D0D"/>
                </a:solidFill>
                <a:latin typeface="Calibri"/>
              </a:rPr>
              <a:t>Территория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2 339 700 км² — крупнейший регион Сибири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577840" cy="73152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0D0D"/>
                </a:solidFill>
                <a:latin typeface="Calibri"/>
              </a:rPr>
              <a:t>Население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9339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Около 1,9 млн человек в 1940 году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5577840" cy="73152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186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0D0D"/>
                </a:solidFill>
                <a:latin typeface="Calibri"/>
              </a:rPr>
              <a:t>Промышленность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3931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Лесная, горнодобывающая, лёгкая, пищевая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0896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108960"/>
            <a:ext cx="5577840" cy="73152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2186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0D0D"/>
                </a:solidFill>
                <a:latin typeface="Calibri"/>
              </a:rPr>
              <a:t>Транспорт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3931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Транссибирская магистраль — ключевая артерия тыла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5488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754880"/>
            <a:ext cx="5577840" cy="73152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646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0D0D"/>
                </a:solidFill>
                <a:latin typeface="Calibri"/>
              </a:rPr>
              <a:t>Ресурсы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8523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Золото, уголь (Норильск, Черногорск), лес, зерно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75488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754880"/>
            <a:ext cx="5577840" cy="73152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8646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0D0D"/>
                </a:solidFill>
                <a:latin typeface="Calibri"/>
              </a:rPr>
              <a:t>Стратегическое положение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28523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Глубокий тыл, недосягаемый для вражеской авиации — идеальная база для эвакуации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Мобилизация: Красноярский край уходит на фронт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4114800" cy="256032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D4AF37"/>
                </a:solidFill>
                <a:latin typeface="Calibri"/>
              </a:rPr>
              <a:t>465 000+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жителей края
отправлено на фронт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17320"/>
            <a:ext cx="70408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508760"/>
            <a:ext cx="6766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Мобилизация началась уже 22–23 июня 1941 года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Формировались дивизии, полки, отдельные батальоны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Среди призванных — рабочие, колхозники, студенты, учителя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Добровольцы записывались в военкоматах в первые же дни войны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На 1 000 жителей — около 245 мобилизованных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60520"/>
            <a:ext cx="114300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160520"/>
            <a:ext cx="11430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251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0D0D"/>
                </a:solidFill>
                <a:latin typeface="Calibri"/>
              </a:rPr>
              <a:t>Статистика потерь и наград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548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•  Погибли и пропали без вести — свыше 170 000 человек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•  Более 170 Героев Советского Союза — уроженцы и жители края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•  Десятки тысяч награждены орденами и медалями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Сибирские дивизии в Битве за Москву (1941)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96012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«Если не остановить их сейчас, Москва падёт» — ноябрь 1941 года стал переломным.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78-я стрелковая дивизия (9-я гвардейская) под командованием А. П. Белобородова — держала Истринский рубеж и не пустила немцев к Москве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Сибирские дивизии прибыли с Дальнего Востока и из Сибири, когда немцы стояли в 20–30 км от столицы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Бойцы-сибиряки были физически крепче, лучше приспособлены к морозу — это имело огромное значение зимой 1941–1942 гг.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Немецкое командование называло их «белыми волками» — наводили страх стремительными ночными атаками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Контрнаступление под Москвой 5–6 декабря 1941 г. — первое крупное поражение вермахта во Второй мировой войне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Участие красноярских формирований в операции доказало: Сибирь — не только тыл, но и главная ударная сила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Промышленная эвакуация: завод за заводом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7B0D0D"/>
                </a:solidFill>
                <a:latin typeface="Calibri"/>
              </a:rPr>
              <a:t>С июля 1941 по 1942 год в Красноярский край эвакуировано более 30 крупных предприятий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240280"/>
            <a:ext cx="3611880" cy="548640"/>
          </a:xfrm>
          <a:prstGeom prst="rect">
            <a:avLst/>
          </a:prstGeom>
          <a:solidFill>
            <a:srgbClr val="4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2860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37"/>
                </a:solidFill>
                <a:latin typeface="Calibri"/>
              </a:rPr>
              <a:t>Завод «Красмаш»
(усиленный)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88920"/>
            <a:ext cx="3611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834640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Производство миномётов, орудий, боеприпасов;
работал в 3 смены круглосуточно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240280"/>
            <a:ext cx="3611880" cy="548640"/>
          </a:xfrm>
          <a:prstGeom prst="rect">
            <a:avLst/>
          </a:prstGeom>
          <a:solidFill>
            <a:srgbClr val="4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22860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37"/>
                </a:solidFill>
                <a:latin typeface="Calibri"/>
              </a:rPr>
              <a:t>Харьковский
электромеханич. завод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788920"/>
            <a:ext cx="3611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2834640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Эвакуирован в Красноярск;
производил электрооборудование для флота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240280"/>
            <a:ext cx="3611880" cy="548640"/>
          </a:xfrm>
          <a:prstGeom prst="rect">
            <a:avLst/>
          </a:prstGeom>
          <a:solidFill>
            <a:srgbClr val="4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2860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37"/>
                </a:solidFill>
                <a:latin typeface="Calibri"/>
              </a:rPr>
              <a:t>Сибтяжмаш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788920"/>
            <a:ext cx="3611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834640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Производство кранов и тяжёлого оборудования
для военной промышленности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389120"/>
            <a:ext cx="3611880" cy="548640"/>
          </a:xfrm>
          <a:prstGeom prst="rect">
            <a:avLst/>
          </a:prstGeom>
          <a:solidFill>
            <a:srgbClr val="4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443484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37"/>
                </a:solidFill>
                <a:latin typeface="Calibri"/>
              </a:rPr>
              <a:t>Завод
комбайнов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937760"/>
            <a:ext cx="3611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4983480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Перепрофилирован на выпуск военной техники
и деталей для оборонных нужд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389120"/>
            <a:ext cx="3611880" cy="548640"/>
          </a:xfrm>
          <a:prstGeom prst="rect">
            <a:avLst/>
          </a:prstGeom>
          <a:solidFill>
            <a:srgbClr val="4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443484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37"/>
                </a:solidFill>
                <a:latin typeface="Calibri"/>
              </a:rPr>
              <a:t>Судоверфь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4937760"/>
            <a:ext cx="3611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4983480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Строительство и ремонт речных судов
для снабжения фронта по Енисею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389120"/>
            <a:ext cx="3611880" cy="548640"/>
          </a:xfrm>
          <a:prstGeom prst="rect">
            <a:avLst/>
          </a:prstGeom>
          <a:solidFill>
            <a:srgbClr val="4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443484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37"/>
                </a:solidFill>
                <a:latin typeface="Calibri"/>
              </a:rPr>
              <a:t>Лесная
промышленность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4937760"/>
            <a:ext cx="3611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983480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Древесина для строительства,
производства лыж, приклада оружия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«Красмаш» — оружейное сердце Красноярска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77724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Красноярский машиностроительный завод стал главным оборонным предприятием края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247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До войны — выпуск паровых котлов и мирной техники; с июня 1941 — полная перестройка на военный лад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Производил 120-мм миномёты, артиллерийские снаряды, корпуса авиабомб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К 1942 году объём производства вырос в 5–6 раз по сравнению с довоенным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Рабочий день — 12–14 часов; смены не прекращались ни в праздники, ни в морозы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Костяк производства — женщины и подростки 14–16 лет, заменившие ушедших на фронт мужчин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Лозунг цехов: «Каждый снаряд — это удар по врагу»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◆  За годы войны удостоен орденом Трудового Красного Знамени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Трасса АЛСИБ: «Аляска — Сибирь»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2120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212080" cy="502920"/>
          </a:xfrm>
          <a:prstGeom prst="rect">
            <a:avLst/>
          </a:prstGeom>
          <a:solidFill>
            <a:srgbClr val="2B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Что такое АЛСИБ?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Воздушная трасса поставок самолётов по ленд-лизу из США через Аляску в СССР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Маршрут: Фэрбенкс (Аляска) → Чукотка → Якутия → Красноярск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Протяжённость — около 14 000 км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Красноярск — конечная точка перегонки; отсюда самолёты уходили на фронт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Действовала с сентября 1942 по октябрь 1945 года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394960" cy="502920"/>
          </a:xfrm>
          <a:prstGeom prst="rect">
            <a:avLst/>
          </a:prstGeom>
          <a:solidFill>
            <a:srgbClr val="2B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Итоги и значение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5166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Перегнано около 7 900 самолётов: P-39 Аэрокобра, P-63 Кингкобра, A-20 Бостон, C-47 и др.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Красноярск принял и отправил на фронт тысячи машин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Аэродром Красноярска работал в авральном режиме — технический персонал обслуживал самолёты в –40°C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Без АЛСИБ советская авиация в 1943–1944 гг. испытывала бы острую нехватку истребителей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Маршрут доказал: Сибирь — ворота в СССР с востока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33288" y="1417320"/>
            <a:ext cx="420624" cy="5120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Тыл воевал: сельское хозяйство и ресурсы края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502920"/>
          </a:xfrm>
          <a:prstGeom prst="rect">
            <a:avLst/>
          </a:prstGeom>
          <a:solidFill>
            <a:srgbClr val="4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F37"/>
                </a:solidFill>
                <a:latin typeface="Calibri"/>
              </a:rPr>
              <a:t>🌾 Зерно и хлеб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Красноярский край — крупнейший поставщик зерна в Сибири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Колхозы отправляли хлеб в фонд обороны сверх плана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Лозунг: «Хлеб — тоже оружие»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394960" cy="502920"/>
          </a:xfrm>
          <a:prstGeom prst="rect">
            <a:avLst/>
          </a:prstGeom>
          <a:solidFill>
            <a:srgbClr val="4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F37"/>
                </a:solidFill>
                <a:latin typeface="Calibri"/>
              </a:rPr>
              <a:t>🏗 Лес и строительство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Сотни тысяч кубометров древесины ежегодно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Лыжи, приклады, шпалы, переправы — всё из красноярского леса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Лесозаготовки велись в экстремальных условиях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5394960" cy="502920"/>
          </a:xfrm>
          <a:prstGeom prst="rect">
            <a:avLst/>
          </a:prstGeom>
          <a:solidFill>
            <a:srgbClr val="4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6908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F37"/>
                </a:solidFill>
                <a:latin typeface="Calibri"/>
              </a:rPr>
              <a:t>⛏ Полезные ископаемые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2628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17720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Золото Норильска и приисков — для оплаты ленд-лиза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Норильский никель — стратегическое сырьё для брони и авиации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Уголь Черногорска — топливо для заводов и транспорта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023360"/>
            <a:ext cx="5394960" cy="502920"/>
          </a:xfrm>
          <a:prstGeom prst="rect">
            <a:avLst/>
          </a:prstGeom>
          <a:solidFill>
            <a:srgbClr val="4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06908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F37"/>
                </a:solidFill>
                <a:latin typeface="Calibri"/>
              </a:rPr>
              <a:t>🐄 Животноводство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52628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617720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Мясо и молоко — в фонд армии и эвакуированных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Колхозники сдавали продукты сверх нормы добровольно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«Тёплые вещи» — шубы, валенки, рукавицы для солдат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Герои Советского Союза — уроженцы Красноярского края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200400" cy="201168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4AF37"/>
                </a:solidFill>
                <a:latin typeface="Calibri"/>
              </a:rPr>
              <a:t>170+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Героев
Советского Союза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63040"/>
            <a:ext cx="79552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Алексей Павлович Маресьев (Камышин) — лётчик-ас, прообраз героя «Повести о настоящем человеке»; служил в частях, связанных с Сибирью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Афанасий Павлантьевич Белобородов — командир 9-й гв. стрелковой дивизии, остановившей немцев под Москвой (Иркутская обл., Сибирский военный округ)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Пётр Яковлевич Головин — полярный лётчик, Герой Советского Союза, базировался в Красноярске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Сотни рядовых Героев — пехотинцы, танкисты, лётчики, сапёры, разведчики из городов и сёл края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11880"/>
            <a:ext cx="114300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611880"/>
            <a:ext cx="114300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0D0D"/>
                </a:solidFill>
                <a:latin typeface="Calibri"/>
              </a:rPr>
              <a:t>Фронтовые судьбы жителей края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60520"/>
            <a:ext cx="111556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Алексей Иванович Брусенцов (Красноярск) — Герой Советского Союза, стрелок, отличился в боях за Берлин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Иван Фёдорович Михайличенко — Герой Советского Союза, связист, обеспечил связь при форсировании Днепра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Павел Андреевич Головачёв — Дважды Герой Советского Союза, лётчик-истребитель, 125 побед (служил в сибирских частях)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•  Каждый третий мобилизованный из края получил государственную награду за годы войны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Виктор Астафьев — голос фронтового поколения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029200" cy="512064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  <a:latin typeface="Calibri"/>
              </a:rPr>
              <a:t>ВИКТОР
ПЕТРОВИЧ
АСТАФЬЕВ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D9B8"/>
                </a:solidFill>
                <a:latin typeface="Calibri"/>
              </a:rPr>
              <a:t>1 мая 1924 — 29 ноября 2001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alibri"/>
              </a:rPr>
              <a:t>с. Овсянка
Красноярского края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AF37"/>
                </a:solidFill>
                <a:latin typeface="Calibri"/>
              </a:rPr>
              <a:t>«Я пришёл из войны»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417320"/>
            <a:ext cx="61264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50876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Родился в деревне Овсянка под Красноярском — этот край навсегда стал его душой и темой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В 1942 году, в 18 лет, ушёл добровольцем на фронт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Воевал шофёром, связистом, артиллеристом — прошёл Польшу, был тяжело ранен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Демобилизован в 1945 году с медалями «За отвагу», «За победу над Германией»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После войны вернулся в Сибирь — стал великим русским писателем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Главные произведения о войне: «Пастух и пастушка», «Прокляты и убиты» — без прикрас, от лица рядового солдата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«Прокляты и убиты» — одна из самых жёстких и честных книг о ВОВ в русской литературе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1C1C"/>
                </a:solidFill>
                <a:latin typeface="Calibri"/>
              </a:rPr>
              <a:t>◆  Астафьев — символ того, что Красноярский край дал фронту не только металл и хлеб, но и душу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Труженики тыла и дети войны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502920"/>
          </a:xfrm>
          <a:prstGeom prst="rect">
            <a:avLst/>
          </a:prstGeom>
          <a:solidFill>
            <a:srgbClr val="AA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Женщины и рабочие тыла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80% рабочих на заводах — женщины и подростки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Рабочий день 12–14 часов, 7 дней в неделю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Нормы выработки систематически перевыполнялись на 150–200%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«Двухсотники» — рабочие, выполнявшие две нормы за смену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Сбор тёплых вещей для фронта: сотни тысяч шуб, валенок, рукавиц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Женщины осваивали профессии токаря, сварщика, крановщика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394960" cy="502920"/>
          </a:xfrm>
          <a:prstGeom prst="rect">
            <a:avLst/>
          </a:prstGeom>
          <a:solidFill>
            <a:srgbClr val="AA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Дети войны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С 14 лет — к станку, наравне со взрослыми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Школьники собирали металлолом, лекарственные растения, помогали в колхозах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Дети эвакуированных: более 60 000 детей из западных регионов принял Красноярский край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Детские дома приняли тысячи осиротевших детей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Тимуровское движение — помощь семьям фронтовиков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◆  «Нет ни одной семьи, которую не затронула война»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33288" y="1417320"/>
            <a:ext cx="420624" cy="5120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Память: Красноярский край чтит героев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657600" cy="68580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1790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F37"/>
                </a:solidFill>
                <a:latin typeface="Calibri"/>
              </a:rPr>
              <a:t>Мемориал на Красной площади
Красноярска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4884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2402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Вечный огонь и монументы в честь погибших жителей края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63040"/>
            <a:ext cx="3657600" cy="68580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51790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F37"/>
                </a:solidFill>
                <a:latin typeface="Calibri"/>
              </a:rPr>
              <a:t>Музей Победы
в Красноярске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214884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22402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Документы, артефакты, личные вещи фронтовиков; экспозиции о вкладе края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463040"/>
            <a:ext cx="3657600" cy="68580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51790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F37"/>
                </a:solidFill>
                <a:latin typeface="Calibri"/>
              </a:rPr>
              <a:t>Мемориальный комплекс
в Норильске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214884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2402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Память о тружениках Норильска, ковавших победу в экстремальных условиях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23360"/>
            <a:ext cx="3657600" cy="68580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07822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F37"/>
                </a:solidFill>
                <a:latin typeface="Calibri"/>
              </a:rPr>
              <a:t>Памятник Виктору
Астафьеву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70916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8006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Скульптурный мемориал в Овсянке — малой родине великого писателя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4023360"/>
            <a:ext cx="3657600" cy="68580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399" y="407822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F37"/>
                </a:solidFill>
                <a:latin typeface="Calibri"/>
              </a:rPr>
              <a:t>Аллеи и улицы героев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470916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48006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В каждом городе и районе края — улицы, носящие имена Героев Советского Союза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4023360"/>
            <a:ext cx="3657600" cy="68580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407822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F37"/>
                </a:solidFill>
                <a:latin typeface="Calibri"/>
              </a:rPr>
              <a:t>«Бессмертный полк»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470916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9" y="48006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Ежегодно десятки тысяч красноярцев несут портреты своих ветеранов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0" y="0"/>
            <a:ext cx="301752" cy="6858000"/>
          </a:xfrm>
          <a:prstGeom prst="rect">
            <a:avLst/>
          </a:prstGeom>
          <a:solidFill>
            <a:srgbClr val="7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F37"/>
                </a:solidFill>
                <a:latin typeface="Calibri"/>
              </a:rPr>
              <a:t>ВКЛАД КРАСНОЯРСКОГО КРАЯ В ПОБЕДУ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★  465 000+ мобилизованных — каждый четвёртый житель ушёл на фронт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★  170+ Героев Советского Союза — краевая гордость навсегда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★  30+ эвакуированных заводов превратили Красноярск в промышленный арсенал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★  ~8 000 самолётов перегнано через трассу АЛСИБ — Красноярск финишная точка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★  Продовольствие, металл, древесина, золото — всё шло на фронт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★  Сибирские дивизии остановили немцев у Москвы в декабре 1941 года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AF37"/>
                </a:solidFill>
                <a:latin typeface="Calibri"/>
              </a:rPr>
              <a:t>«Красноярский край не был на переднем крае — он был хребтом, на котором держалась Победа»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
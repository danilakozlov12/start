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4632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Конституционные гарантии
местного самоуправления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9A227"/>
                </a:solidFill>
                <a:latin typeface="Calibri"/>
              </a:rPr>
              <a:t>Правовая основа местного самоуправления
в Российской Федерации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6E4F7"/>
                </a:solidFill>
                <a:latin typeface="Calibri"/>
              </a:rPr>
              <a:t>Конституционное право России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Местное самоуправление: понятие и сущность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A376C"/>
                </a:solidFill>
                <a:latin typeface="Calibri"/>
              </a:rPr>
              <a:t>«Местное самоуправление в Российской Федерации — форма осуществления народом своей власти, обеспечивающая самостоятельное и под свою ответственность решение населением непосредственно и (или) через органы МСУ вопросов местного значения»
— Федеральный закон № 131-ФЗ, ст.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11247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◆  МСУ — конституционно закреплённая форма народовластия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◆  Самостоятельность в решении вопросов местного значения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◆  Отделено от системы государственной власти (ст. 12 Конституции РФ)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◆  Реализуется населением непосредственно и через выборные органы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Статья 12 Конституции РФ — ключевая норма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1828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Calibri"/>
              </a:rPr>
              <a:t>«В Российской Федерации признаётся и гарантируется местное самоуправление. Местное самоуправление в пределах своих полномочий самостоятельно. Органы местного самоуправления не входят в систему органов государственной власти.»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11247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◆  Признание МСУ — Россия обязана создавать условия для его существования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◆  Гарантирование — государство обеспечивает реализацию права граждан на МСУ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◆  Самостоятельность — невмешательство государства в вопросы местного значения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1A1A2E"/>
                </a:solidFill>
                <a:latin typeface="Calibri"/>
              </a:rPr>
              <a:t>◆  Организационная обособленность органов МСУ от органов госвласти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Глава 8 Конституции РФ «Местное самоуправление»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606040" cy="9144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227"/>
                </a:solidFill>
                <a:latin typeface="Calibri"/>
              </a:rPr>
              <a:t>Ст. 130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26060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Право граждан на осуществление МСУ,
формы прямого волеизъявления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463040"/>
            <a:ext cx="2606040" cy="9144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50876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227"/>
                </a:solidFill>
                <a:latin typeface="Calibri"/>
              </a:rPr>
              <a:t>Ст. 131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377440"/>
            <a:ext cx="26060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42316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Территориальные основы МСУ,
учёт мнения населения при изменении границ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606040" cy="9144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50876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227"/>
                </a:solidFill>
                <a:latin typeface="Calibri"/>
              </a:rPr>
              <a:t>Ст. 132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377440"/>
            <a:ext cx="26060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42316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Полномочия органов МСУ:
бюджет, налоги, ЖКХ, охрана порядка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463040"/>
            <a:ext cx="2606040" cy="9144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50876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227"/>
                </a:solidFill>
                <a:latin typeface="Calibri"/>
              </a:rPr>
              <a:t>Ст. 133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2377440"/>
            <a:ext cx="26060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2423160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Гарантии МСУ: судебная защита,
компенсация расходов, запрет ограничений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2E5FA3"/>
                </a:solidFill>
                <a:latin typeface="Calibri"/>
              </a:rPr>
              <a:t>Глава 8 образует конституционный каркас системы местного самоуправления и непосредственно определяет объём прав граждан и гарантий их защиты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Статьи 130–131: право и территориальные основы МСУ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94960" cy="50292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Статья 130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◆  Население решает вопросы местного значения самостоятельно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◆  Формы: референдум, выборы, иное прямое волеизъявление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◆  Реализация через выборные и иные органы МСУ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◆  Право на владение, пользование и распоряжение муниципальной собственностью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3949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394960" cy="50292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Статья 131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◆  МСУ осуществляется в городских, сельских поселениях и на иных территориях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◆  Структура органов МСУ определяется населением самостоятельно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◆  Изменение границ — только с учётом мнения населения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A1A2E"/>
                </a:solidFill>
                <a:latin typeface="Calibri"/>
              </a:rPr>
              <a:t>◆  Гарантия территориальной стабильности муниципальных образований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33288" y="1463040"/>
            <a:ext cx="420624" cy="51206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Статья 132 — Полномочия органов местного самоуправления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65760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Calibri"/>
              </a:rPr>
              <a:t>Бюджет и финансы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65960"/>
            <a:ext cx="36576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Формирование, утверждение и исполнение местного бюджета;
установление местных налогов и сборов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08760"/>
            <a:ext cx="365760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Calibri"/>
              </a:rPr>
              <a:t>Управление имуществом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965960"/>
            <a:ext cx="36576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Владение, пользование и распоряжение муниципальной собственностью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08760"/>
            <a:ext cx="365760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Calibri"/>
              </a:rPr>
              <a:t>ЖКХ и благоустройство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965960"/>
            <a:ext cx="36576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0116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Обеспечение коммунальных услуг, дорог, транспорта,
благоустройства территории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931920"/>
            <a:ext cx="365760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97763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Calibri"/>
              </a:rPr>
              <a:t>Охрана общественного порядка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4389120"/>
            <a:ext cx="36576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44348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Организация охраны общественного порядка (муниципальная полиция)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2120" y="3931920"/>
            <a:ext cx="365760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60" y="397763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  <a:latin typeface="Calibri"/>
              </a:rPr>
              <a:t>Делегированные полномочия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4389120"/>
            <a:ext cx="36576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44348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Органы МСУ могут наделяться отдельными
государственными полномочиями с передачей финансирования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Статья 133 — Конституционные гарантии МСУ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338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28600" cy="14173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76C"/>
                </a:solidFill>
                <a:latin typeface="Calibri"/>
              </a:rPr>
              <a:t>⚖️ Судебная защита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Право органов МСУ и граждан на судебную защиту права на МСУ от нарушений любыми субъектами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11338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228600" cy="14173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76C"/>
                </a:solidFill>
                <a:latin typeface="Calibri"/>
              </a:rPr>
              <a:t>💰 Компенсация расходов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Государство обязано компенсировать дополнительные расходы при наделении органов МСУ госполномочиями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54880"/>
            <a:ext cx="11338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754880"/>
            <a:ext cx="228600" cy="14173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76C"/>
                </a:solidFill>
                <a:latin typeface="Calibri"/>
              </a:rPr>
              <a:t>🚫 Запрет ограничений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Запрет на ограничение прав МСУ, установленных Конституцией и федеральными законами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E5FA3"/>
                </a:solidFill>
                <a:latin typeface="Calibri"/>
              </a:rPr>
              <a:t>Данные гарантии носят конституционный характер и не могут быть отменены ни федеральным, ни региональным законом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Федеральный закон № 131-ФЗ от 06.10.2003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1A376C"/>
                </a:solidFill>
                <a:latin typeface="Calibri"/>
              </a:rPr>
              <a:t>«Об общих принципах организации местного самоуправления в Российской Федерации»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247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◆  Базовый федеральный закон, конкретизирующий конституционные положения о МСУ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◆  Устанавливает виды муниципальных образований: городские и сельские поселения, муниципальные районы, городские округа, внутригородские территории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◆  Закрепляет перечень вопросов местного значения для каждого типа муниципального образования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◆  Регулирует систему органов МСУ: представительный орган, глава, администрация, контрольный орган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◆  Определяет экономическую основу МСУ: муниципальное имущество, местный бюджет, налоги</a:t>
            </a:r>
          </a:p>
          <a:p>
            <a:pPr algn="l">
              <a:spcBef>
                <a:spcPts val="300"/>
              </a:spcBef>
            </a:pPr>
            <a:r>
              <a:rPr sz="1500">
                <a:solidFill>
                  <a:srgbClr val="1A1A2E"/>
                </a:solidFill>
                <a:latin typeface="Calibri"/>
              </a:rPr>
              <a:t>◆  Устанавливает формы непосредственного участия граждан: местный референдум, муниципальные выборы, сход граждан, правотворческая инициатива, публичные слушания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Европейская хартия местного самоуправления 1985 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1A376C"/>
                </a:solidFill>
                <a:latin typeface="Calibri"/>
              </a:rPr>
              <a:t>Ратифицирована Россией в 1998 году (Федеральный закон № 55-ФЗ) — является частью правовой системы РФ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53949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5394960" cy="50292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Ключевые принципы Хартии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5166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◆  Право и реальная способность органов МСУ самостоятельно регулировать местные дела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◆  Принцип субсидиарности: вопросы решаются на максимально близком к гражданину уровне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◆  Финансовая самостоятельность — собственные налоги и сборы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◆  Административный надзор только в пределах, установленных законом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◆  Судебная защита автономии МСУ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3949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03120"/>
            <a:ext cx="5394960" cy="50292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Значение для России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97480"/>
            <a:ext cx="5166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◆  Источник толкования конституционных норм о МСУ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◆  Стандарты организации МСУ имплементированы в 131-ФЗ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◆  Приоритет перед нормами национального законодательства (ч. 4 ст. 15 Конституции)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◆  Основа для обращений в международные органы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◆  После 2022 года — правовой статус нормы пересматривается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33288" y="2103120"/>
            <a:ext cx="420624" cy="43891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Иные источники правового регулирования МСУ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5486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Федеральный уровень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36576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ФЗ № 67-ФЗ — об основных гарантиях избирательных прав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ФЗ № 25-ФЗ — о муниципальной службе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ФЗ № 154-ФЗ — о финансовых основах МСУ (утр. силу, заменён бюджетным законодательством)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Бюджетный и Налоговый кодексы РФ — финансовые основы МСУ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Земельный кодекс РФ — управление земельными ресурсами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657600" cy="54864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904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Региональный уровень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011680"/>
            <a:ext cx="36576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Конституции и Уставы субъектов РФ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Законы субъектов РФ об организации МСУ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Законы об установлении границ муниципальных образований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Законы о наделении органов МСУ отдельными государственными полномочиями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6576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904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Муниципальный уровень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36576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103120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Устав муниципального образования — основной акт МСУ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Решения представительного органа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Постановления и распоряжения главы и администрации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Роль Конституционного Суда РФ в защите МСУ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1A376C"/>
                </a:solidFill>
                <a:latin typeface="Calibri"/>
              </a:rPr>
              <a:t>Конституционный Суд РФ является ключевым органом защиты конституционных гарантий МСУ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557784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40279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  <a:latin typeface="Calibri"/>
              </a:rPr>
              <a:t>Постановление КС РФ
№ 9-П (1997)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26079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Закрепил принцип организационной самостоятельности МСУ и недопустимость произвольного вмешательства государства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03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103120"/>
            <a:ext cx="557784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40279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  <a:latin typeface="Calibri"/>
              </a:rPr>
              <a:t>Постановление КС РФ
№ 15-П (2000)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26079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О праве населения на МСУ при изменении границ — без согласия населения изменения незаконны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389120"/>
            <a:ext cx="557784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262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  <a:latin typeface="Calibri"/>
              </a:rPr>
              <a:t>Постановление КС РФ
№ 13-П (2002)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2120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Подтвердил, что органы МСУ не могут быть включены в систему государственной власти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389120"/>
            <a:ext cx="557784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5262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  <a:latin typeface="Calibri"/>
              </a:rPr>
              <a:t>Постановление КС РФ
№ 20-П (2015)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2120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О допустимости введения сити-менеджера при сохранении выборного начала МСУ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Система конституционных гарантий МСУ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1463040"/>
            <a:ext cx="2743200" cy="6858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4904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Организационные
гарантии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" y="2148840"/>
            <a:ext cx="274320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" y="2240280"/>
            <a:ext cx="2542032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Самостоятельное определение структуры органов МСУ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Организационная обособленность от госвласти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Запрет произвольного роспуска органов МСУ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2968" y="1463040"/>
            <a:ext cx="2743200" cy="685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14904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Финансово-экономические
гарантии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2148840"/>
            <a:ext cx="274320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82696" y="2240280"/>
            <a:ext cx="2542032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Право на местный бюджет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Собственные налоговые доходы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Муниципальная собственность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Компенсация делегированных полномочий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1463040"/>
            <a:ext cx="2743200" cy="685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14904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Юридические
гарантии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8" y="2148840"/>
            <a:ext cx="274320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2240280"/>
            <a:ext cx="2542032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Судебная защита прав МСУ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Право на обращение в КС РФ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Ответственность за нарушение прав МСУ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Запрет ограничения прав МСУ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5128" y="1463040"/>
            <a:ext cx="2743200" cy="685800"/>
          </a:xfrm>
          <a:prstGeom prst="rect">
            <a:avLst/>
          </a:prstGeom>
          <a:solidFill>
            <a:srgbClr val="5BA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1490472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Политические
гарантии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5128" y="2148840"/>
            <a:ext cx="274320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856" y="2240280"/>
            <a:ext cx="2542032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Выборность органов МСУ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Право на местный референдум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Сход граждан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1A1A2E"/>
                </a:solidFill>
                <a:latin typeface="Calibri"/>
              </a:rPr>
              <a:t>•  Публичные слушания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Выводы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✓  МСУ является конституционной формой народовластия (ст. 3, 12, гл. 8 Конституции РФ)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✓  Конституция РФ закрепляет как само право на МСУ, так и систему его гарантий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✓  ФЗ № 131-ФЗ детализирует конституционные нормы и формирует законодательную базу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✓  Европейская хартия МСУ служила международным стандартом до изменения правового статуса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FFFFFF"/>
                </a:solidFill>
                <a:latin typeface="Calibri"/>
              </a:rPr>
              <a:t>✓  КС РФ — главный страж конституционных гарантий МСУ в России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57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9A227"/>
                </a:solidFill>
                <a:latin typeface="Calibri"/>
              </a:rPr>
              <a:t>«Местное самоуправление — это демократия, которую гражданин ощущает каждый день»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